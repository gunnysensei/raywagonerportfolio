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63" r:id="rId3"/>
    <p:sldId id="267" r:id="rId4"/>
    <p:sldId id="264" r:id="rId5"/>
    <p:sldId id="265" r:id="rId6"/>
    <p:sldId id="266" r:id="rId7"/>
    <p:sldId id="257" r:id="rId8"/>
    <p:sldId id="258" r:id="rId9"/>
    <p:sldId id="261" r:id="rId10"/>
    <p:sldId id="260" r:id="rId11"/>
    <p:sldId id="274" r:id="rId12"/>
    <p:sldId id="271" r:id="rId13"/>
    <p:sldId id="272" r:id="rId14"/>
    <p:sldId id="275"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9" d="100"/>
          <a:sy n="69" d="100"/>
        </p:scale>
        <p:origin x="56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94A1A29-F6C2-4DD4-A569-847005E5CF84}" type="datetimeFigureOut">
              <a:rPr lang="en-US" smtClean="0"/>
              <a:t>11/23/2018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3234977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94A1A29-F6C2-4DD4-A569-847005E5CF84}" type="datetimeFigureOut">
              <a:rPr lang="en-US" smtClean="0"/>
              <a:t>11/23/2018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1289208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94A1A29-F6C2-4DD4-A569-847005E5CF84}" type="datetimeFigureOut">
              <a:rPr lang="en-US" smtClean="0"/>
              <a:t>11/23/2018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805325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94A1A29-F6C2-4DD4-A569-847005E5CF84}" type="datetimeFigureOut">
              <a:rPr lang="en-US" smtClean="0"/>
              <a:t>11/23/2018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1062291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94A1A29-F6C2-4DD4-A569-847005E5CF84}" type="datetimeFigureOut">
              <a:rPr lang="en-US" smtClean="0"/>
              <a:t>11/23/2018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733191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94A1A29-F6C2-4DD4-A569-847005E5CF84}" type="datetimeFigureOut">
              <a:rPr lang="en-US" smtClean="0"/>
              <a:t>11/23/2018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3649373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4A1A29-F6C2-4DD4-A569-847005E5CF84}" type="datetimeFigureOut">
              <a:rPr lang="en-US" smtClean="0"/>
              <a:t>11/23/2018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548262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94A1A29-F6C2-4DD4-A569-847005E5CF84}" type="datetimeFigureOut">
              <a:rPr lang="en-US" smtClean="0"/>
              <a:t>11/23/2018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2570958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94A1A29-F6C2-4DD4-A569-847005E5CF84}" type="datetimeFigureOut">
              <a:rPr lang="en-US" smtClean="0"/>
              <a:t>11/23/2018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3694993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94A1A29-F6C2-4DD4-A569-847005E5CF84}" type="datetimeFigureOut">
              <a:rPr lang="en-US" smtClean="0"/>
              <a:t>11/23/2018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424299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94A1A29-F6C2-4DD4-A569-847005E5CF84}" type="datetimeFigureOut">
              <a:rPr lang="en-US" smtClean="0"/>
              <a:t>11/23/2018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C60A10-6D55-4C03-A5C0-404015F176A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592088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94A1A29-F6C2-4DD4-A569-847005E5CF84}" type="datetimeFigureOut">
              <a:rPr lang="en-US" smtClean="0"/>
              <a:t>11/23/2018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16689292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94A1A29-F6C2-4DD4-A569-847005E5CF84}" type="datetimeFigureOut">
              <a:rPr lang="en-US" smtClean="0"/>
              <a:t>11/23/2018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C60A10-6D55-4C03-A5C0-404015F176A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38585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94A1A29-F6C2-4DD4-A569-847005E5CF84}" type="datetimeFigureOut">
              <a:rPr lang="en-US" smtClean="0"/>
              <a:t>11/23/2018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30183557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94A1A29-F6C2-4DD4-A569-847005E5CF84}" type="datetimeFigureOut">
              <a:rPr lang="en-US" smtClean="0"/>
              <a:t>11/23/2018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19628951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94A1A29-F6C2-4DD4-A569-847005E5CF84}" type="datetimeFigureOut">
              <a:rPr lang="en-US" smtClean="0"/>
              <a:t>11/23/2018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C60A10-6D55-4C03-A5C0-404015F176A0}" type="slidenum">
              <a:rPr lang="en-US" smtClean="0"/>
              <a:t>‹#›</a:t>
            </a:fld>
            <a:endParaRPr lang="en-US"/>
          </a:p>
        </p:txBody>
      </p:sp>
    </p:spTree>
    <p:extLst>
      <p:ext uri="{BB962C8B-B14F-4D97-AF65-F5344CB8AC3E}">
        <p14:creationId xmlns:p14="http://schemas.microsoft.com/office/powerpoint/2010/main" val="947767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94A1A29-F6C2-4DD4-A569-847005E5CF84}" type="datetimeFigureOut">
              <a:rPr lang="en-US" smtClean="0"/>
              <a:t>11/23/2018</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8C60A10-6D55-4C03-A5C0-404015F176A0}" type="slidenum">
              <a:rPr lang="en-US" smtClean="0"/>
              <a:t>‹#›</a:t>
            </a:fld>
            <a:endParaRPr lang="en-US"/>
          </a:p>
        </p:txBody>
      </p:sp>
    </p:spTree>
    <p:extLst>
      <p:ext uri="{BB962C8B-B14F-4D97-AF65-F5344CB8AC3E}">
        <p14:creationId xmlns:p14="http://schemas.microsoft.com/office/powerpoint/2010/main" val="276184946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Case Conceptualization </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60111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Case Conceptualization</a:t>
            </a:r>
            <a:endParaRPr lang="en-US" dirty="0"/>
          </a:p>
        </p:txBody>
      </p:sp>
      <p:sp>
        <p:nvSpPr>
          <p:cNvPr id="3" name="Content Placeholder 2"/>
          <p:cNvSpPr>
            <a:spLocks noGrp="1"/>
          </p:cNvSpPr>
          <p:nvPr>
            <p:ph idx="1"/>
          </p:nvPr>
        </p:nvSpPr>
        <p:spPr/>
        <p:txBody>
          <a:bodyPr/>
          <a:lstStyle/>
          <a:p>
            <a:r>
              <a:rPr lang="en-US" dirty="0" smtClean="0"/>
              <a:t>“Case conceptualizations provide practitioners with a coherent treatment strategy for planning and focusing treatment interventions in order to increase the likelihood of achieving treatment goals. . . . There are a number reasons for developing and articulating a case conceptualization, but the most cogent reason is that a conceptualization enables therapists to experience a sense of confidence in their work. . . . which strengthens the client’s trust and the belief that the practitioner has a credible plan, and that therapy can and will make a difference” (Sperry &amp; Sperry, p. 4)  </a:t>
            </a:r>
            <a:endParaRPr lang="en-US" dirty="0"/>
          </a:p>
        </p:txBody>
      </p:sp>
    </p:spTree>
    <p:extLst>
      <p:ext uri="{BB962C8B-B14F-4D97-AF65-F5344CB8AC3E}">
        <p14:creationId xmlns:p14="http://schemas.microsoft.com/office/powerpoint/2010/main" val="1660156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	</a:t>
            </a:r>
            <a:endParaRPr lang="en-US" dirty="0"/>
          </a:p>
        </p:txBody>
      </p:sp>
      <p:sp>
        <p:nvSpPr>
          <p:cNvPr id="3" name="Content Placeholder 2"/>
          <p:cNvSpPr>
            <a:spLocks noGrp="1"/>
          </p:cNvSpPr>
          <p:nvPr>
            <p:ph idx="1"/>
          </p:nvPr>
        </p:nvSpPr>
        <p:spPr/>
        <p:txBody>
          <a:bodyPr/>
          <a:lstStyle/>
          <a:p>
            <a:pPr marL="0" indent="0">
              <a:buNone/>
            </a:pPr>
            <a:r>
              <a:rPr lang="en-US" dirty="0" smtClean="0"/>
              <a:t>You will be able to identify Sperry’s elements used for the development of Case Conceptualizations</a:t>
            </a:r>
          </a:p>
          <a:p>
            <a:pPr marL="0" indent="0">
              <a:buNone/>
            </a:pPr>
            <a:r>
              <a:rPr lang="en-US" dirty="0" smtClean="0"/>
              <a:t>You will be able to develop a Case Conceptualization Summary Statement based upon Sperry’s elements  </a:t>
            </a:r>
            <a:endParaRPr lang="en-US" dirty="0"/>
          </a:p>
        </p:txBody>
      </p:sp>
    </p:spTree>
    <p:extLst>
      <p:ext uri="{BB962C8B-B14F-4D97-AF65-F5344CB8AC3E}">
        <p14:creationId xmlns:p14="http://schemas.microsoft.com/office/powerpoint/2010/main" val="901073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Case Conceptualization</a:t>
            </a:r>
            <a:endParaRPr lang="en-US" dirty="0"/>
          </a:p>
        </p:txBody>
      </p:sp>
      <p:sp>
        <p:nvSpPr>
          <p:cNvPr id="3" name="Content Placeholder 2"/>
          <p:cNvSpPr>
            <a:spLocks noGrp="1"/>
          </p:cNvSpPr>
          <p:nvPr>
            <p:ph idx="1"/>
          </p:nvPr>
        </p:nvSpPr>
        <p:spPr/>
        <p:txBody>
          <a:bodyPr/>
          <a:lstStyle/>
          <a:p>
            <a:r>
              <a:rPr lang="en-US" dirty="0" smtClean="0"/>
              <a:t>Case conceptualization provides:</a:t>
            </a:r>
          </a:p>
          <a:p>
            <a:pPr lvl="1"/>
            <a:r>
              <a:rPr lang="en-US" dirty="0" smtClean="0"/>
              <a:t>Explanatory power of the problems clients present </a:t>
            </a:r>
          </a:p>
          <a:p>
            <a:pPr lvl="1"/>
            <a:r>
              <a:rPr lang="en-US" dirty="0" smtClean="0"/>
              <a:t>Predictive power for effective treatment planning</a:t>
            </a:r>
          </a:p>
          <a:p>
            <a:r>
              <a:rPr lang="en-US" dirty="0" smtClean="0"/>
              <a:t>What characterizes a clinically useful case conceptualization? A high level Case Conceptualization addresses: </a:t>
            </a:r>
            <a:r>
              <a:rPr lang="en-US" u="sng" dirty="0" smtClean="0"/>
              <a:t>Four Components </a:t>
            </a:r>
            <a:r>
              <a:rPr lang="en-US" dirty="0" smtClean="0"/>
              <a:t>of Case Conceptualization</a:t>
            </a:r>
          </a:p>
          <a:p>
            <a:pPr lvl="1"/>
            <a:r>
              <a:rPr lang="en-US" dirty="0"/>
              <a:t>T</a:t>
            </a:r>
            <a:r>
              <a:rPr lang="en-US" dirty="0" smtClean="0"/>
              <a:t>he “What happened” question (</a:t>
            </a:r>
            <a:r>
              <a:rPr lang="en-US" b="1" dirty="0" smtClean="0"/>
              <a:t>diagnostic formulation</a:t>
            </a:r>
            <a:r>
              <a:rPr lang="en-US" dirty="0" smtClean="0"/>
              <a:t>)</a:t>
            </a:r>
          </a:p>
          <a:p>
            <a:pPr lvl="1"/>
            <a:r>
              <a:rPr lang="en-US" dirty="0" smtClean="0"/>
              <a:t>The “Why it happened” question (</a:t>
            </a:r>
            <a:r>
              <a:rPr lang="en-US" b="1" dirty="0" smtClean="0"/>
              <a:t>clinical formulation</a:t>
            </a:r>
            <a:r>
              <a:rPr lang="en-US" dirty="0" smtClean="0"/>
              <a:t>)</a:t>
            </a:r>
          </a:p>
          <a:p>
            <a:pPr lvl="1"/>
            <a:r>
              <a:rPr lang="en-US" dirty="0"/>
              <a:t>The “What role does culture play” question (</a:t>
            </a:r>
            <a:r>
              <a:rPr lang="en-US" b="1" dirty="0"/>
              <a:t>cultural formulation</a:t>
            </a:r>
            <a:r>
              <a:rPr lang="en-US" dirty="0" smtClean="0"/>
              <a:t>)</a:t>
            </a:r>
          </a:p>
          <a:p>
            <a:pPr lvl="1"/>
            <a:r>
              <a:rPr lang="en-US" dirty="0" smtClean="0"/>
              <a:t> The “What can be done about it and how” question (</a:t>
            </a:r>
            <a:r>
              <a:rPr lang="en-US" b="1" dirty="0" smtClean="0"/>
              <a:t>treatment formulation</a:t>
            </a:r>
            <a:r>
              <a:rPr lang="en-US" dirty="0" smtClean="0"/>
              <a:t>)</a:t>
            </a:r>
          </a:p>
        </p:txBody>
      </p:sp>
    </p:spTree>
    <p:extLst>
      <p:ext uri="{BB962C8B-B14F-4D97-AF65-F5344CB8AC3E}">
        <p14:creationId xmlns:p14="http://schemas.microsoft.com/office/powerpoint/2010/main" val="4106398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Elements of Case Conceptualization</a:t>
            </a:r>
            <a:br>
              <a:rPr lang="en-US" dirty="0" smtClean="0"/>
            </a:br>
            <a:r>
              <a:rPr lang="en-US" sz="3600" dirty="0" smtClean="0"/>
              <a:t>(Main focus of this presentation)</a:t>
            </a:r>
            <a:endParaRPr lang="en-US" sz="3600" dirty="0"/>
          </a:p>
        </p:txBody>
      </p:sp>
      <p:sp>
        <p:nvSpPr>
          <p:cNvPr id="3" name="Content Placeholder 2"/>
          <p:cNvSpPr>
            <a:spLocks noGrp="1"/>
          </p:cNvSpPr>
          <p:nvPr>
            <p:ph idx="1"/>
          </p:nvPr>
        </p:nvSpPr>
        <p:spPr/>
        <p:txBody>
          <a:bodyPr>
            <a:normAutofit fontScale="70000" lnSpcReduction="20000"/>
          </a:bodyPr>
          <a:lstStyle/>
          <a:p>
            <a:r>
              <a:rPr lang="en-US" b="1" u="sng" dirty="0" smtClean="0"/>
              <a:t>Diagnostic Formulation</a:t>
            </a:r>
          </a:p>
          <a:p>
            <a:r>
              <a:rPr lang="en-US" dirty="0" smtClean="0"/>
              <a:t>Presentation: presenting problem and characteristic response to precipitants</a:t>
            </a:r>
          </a:p>
          <a:p>
            <a:r>
              <a:rPr lang="en-US" dirty="0" smtClean="0"/>
              <a:t>Precipitant: triggers that activate the pattern resulting in presenting problem</a:t>
            </a:r>
          </a:p>
          <a:p>
            <a:r>
              <a:rPr lang="en-US" dirty="0"/>
              <a:t>Pattern-maladaptive:  inflexible, ineffective manner of perceiving, thinking, </a:t>
            </a:r>
            <a:r>
              <a:rPr lang="en-US" dirty="0" smtClean="0"/>
              <a:t>acting</a:t>
            </a:r>
          </a:p>
          <a:p>
            <a:r>
              <a:rPr lang="en-US" b="1" u="sng" dirty="0" smtClean="0"/>
              <a:t>Clinical Formulation</a:t>
            </a:r>
          </a:p>
          <a:p>
            <a:r>
              <a:rPr lang="en-US" dirty="0" smtClean="0"/>
              <a:t>Predisposition: factors fostering adaptive or maladaptive functioning</a:t>
            </a:r>
          </a:p>
          <a:p>
            <a:r>
              <a:rPr lang="en-US" dirty="0" smtClean="0"/>
              <a:t>Perpetuants:  triggers that activate one’s pattern resulting in presentation</a:t>
            </a:r>
          </a:p>
          <a:p>
            <a:r>
              <a:rPr lang="en-US" b="1" u="sng" dirty="0" smtClean="0"/>
              <a:t>Cultural Formulation</a:t>
            </a:r>
          </a:p>
          <a:p>
            <a:r>
              <a:rPr lang="en-US" dirty="0" smtClean="0"/>
              <a:t>Cultural identity:  sense of belonging to a particular ethnic group</a:t>
            </a:r>
          </a:p>
          <a:p>
            <a:r>
              <a:rPr lang="en-US" dirty="0" smtClean="0"/>
              <a:t>Culture: acculturation and acculturative stress: rooted acculturation including psychosocial difficulties</a:t>
            </a:r>
          </a:p>
          <a:p>
            <a:r>
              <a:rPr lang="en-US" dirty="0" smtClean="0"/>
              <a:t>Cultural explanation: beliefs regarding cause of distress, condition, or impairment</a:t>
            </a:r>
          </a:p>
          <a:p>
            <a:r>
              <a:rPr lang="en-US" dirty="0" smtClean="0"/>
              <a:t>Culture vs. personality: operative mix of cultural and personality dynamics</a:t>
            </a:r>
          </a:p>
          <a:p>
            <a:pPr lvl="5"/>
            <a:r>
              <a:rPr lang="en-US" dirty="0" smtClean="0"/>
              <a:t>(Sperry &amp; Sperry, p. 15)</a:t>
            </a:r>
          </a:p>
          <a:p>
            <a:endParaRPr lang="en-US" dirty="0"/>
          </a:p>
        </p:txBody>
      </p:sp>
    </p:spTree>
    <p:extLst>
      <p:ext uri="{BB962C8B-B14F-4D97-AF65-F5344CB8AC3E}">
        <p14:creationId xmlns:p14="http://schemas.microsoft.com/office/powerpoint/2010/main" val="3291587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Elements of Case Conceptualization</a:t>
            </a:r>
            <a:br>
              <a:rPr lang="en-US" dirty="0" smtClean="0"/>
            </a:br>
            <a:r>
              <a:rPr lang="en-US" sz="3600" dirty="0" smtClean="0"/>
              <a:t>(Not Addressed in this presentation)</a:t>
            </a:r>
            <a:endParaRPr lang="en-US" sz="3600" dirty="0"/>
          </a:p>
        </p:txBody>
      </p:sp>
      <p:sp>
        <p:nvSpPr>
          <p:cNvPr id="3" name="Content Placeholder 2"/>
          <p:cNvSpPr>
            <a:spLocks noGrp="1"/>
          </p:cNvSpPr>
          <p:nvPr>
            <p:ph idx="1"/>
          </p:nvPr>
        </p:nvSpPr>
        <p:spPr/>
        <p:txBody>
          <a:bodyPr>
            <a:normAutofit fontScale="77500" lnSpcReduction="20000"/>
          </a:bodyPr>
          <a:lstStyle/>
          <a:p>
            <a:r>
              <a:rPr lang="en-US" b="1" u="sng" dirty="0" smtClean="0"/>
              <a:t>Treatment Formulation</a:t>
            </a:r>
          </a:p>
          <a:p>
            <a:r>
              <a:rPr lang="en-US" dirty="0" smtClean="0"/>
              <a:t>Treatment pattern: flexible, effective manner of perceiving, thinking, and acting</a:t>
            </a:r>
          </a:p>
          <a:p>
            <a:r>
              <a:rPr lang="en-US" dirty="0" smtClean="0"/>
              <a:t>Treatment goals:  stated short-and long-term outcomes of treatment</a:t>
            </a:r>
          </a:p>
          <a:p>
            <a:r>
              <a:rPr lang="en-US" dirty="0" smtClean="0"/>
              <a:t>Treatment focus:  central therapeutic emphasis providing directionality to treatment that is keyed to the adaptive pattern</a:t>
            </a:r>
          </a:p>
          <a:p>
            <a:r>
              <a:rPr lang="en-US" dirty="0" smtClean="0"/>
              <a:t>Treatment strategy:  action plan and vehicle for achieving more adaptive pattern</a:t>
            </a:r>
          </a:p>
          <a:p>
            <a:r>
              <a:rPr lang="en-US" dirty="0" smtClean="0"/>
              <a:t>Treatment interventions:  specific change techniques and tactics related to the treatment strategy for achieving treatment goals and pattern change</a:t>
            </a:r>
          </a:p>
          <a:p>
            <a:r>
              <a:rPr lang="en-US" dirty="0" smtClean="0"/>
              <a:t>Treatment obstacles:  predictable challenges in the treatment process anticipated from the maladaptive pattern</a:t>
            </a:r>
          </a:p>
          <a:p>
            <a:r>
              <a:rPr lang="en-US" dirty="0" smtClean="0"/>
              <a:t>Treatment-cultural:  incorporation of cultural intervention, culturally sensitive therapy, or interventions when indicated</a:t>
            </a:r>
          </a:p>
          <a:p>
            <a:r>
              <a:rPr lang="en-US" dirty="0" smtClean="0"/>
              <a:t>Treatment prognosis:  prediction of the likely course, duration, and outcome of mental health condition with or without treatment</a:t>
            </a:r>
          </a:p>
          <a:p>
            <a:pPr lvl="3"/>
            <a:r>
              <a:rPr lang="en-US" dirty="0" smtClean="0"/>
              <a:t>(Sperry &amp; Sperry, p. 15)</a:t>
            </a:r>
            <a:endParaRPr lang="en-US" dirty="0"/>
          </a:p>
        </p:txBody>
      </p:sp>
    </p:spTree>
    <p:extLst>
      <p:ext uri="{BB962C8B-B14F-4D97-AF65-F5344CB8AC3E}">
        <p14:creationId xmlns:p14="http://schemas.microsoft.com/office/powerpoint/2010/main" val="26192200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smtClean="0"/>
              <a:t>Four Components of a Case Conceptualization</a:t>
            </a:r>
            <a:endParaRPr lang="en-US" dirty="0"/>
          </a:p>
        </p:txBody>
      </p:sp>
      <p:sp>
        <p:nvSpPr>
          <p:cNvPr id="3" name="Content Placeholder 2"/>
          <p:cNvSpPr>
            <a:spLocks noGrp="1"/>
          </p:cNvSpPr>
          <p:nvPr>
            <p:ph idx="1"/>
          </p:nvPr>
        </p:nvSpPr>
        <p:spPr/>
        <p:txBody>
          <a:bodyPr>
            <a:normAutofit fontScale="85000" lnSpcReduction="10000"/>
          </a:bodyPr>
          <a:lstStyle/>
          <a:p>
            <a:r>
              <a:rPr lang="en-US" b="1" u="sng" dirty="0" smtClean="0"/>
              <a:t>Diagnostic Formulation</a:t>
            </a:r>
            <a:r>
              <a:rPr lang="en-US" dirty="0" smtClean="0"/>
              <a:t>:</a:t>
            </a:r>
          </a:p>
          <a:p>
            <a:pPr lvl="1"/>
            <a:r>
              <a:rPr lang="en-US" dirty="0" smtClean="0"/>
              <a:t>Presentation of client/couple/family situation</a:t>
            </a:r>
          </a:p>
          <a:p>
            <a:pPr lvl="1"/>
            <a:r>
              <a:rPr lang="en-US" dirty="0"/>
              <a:t>T</a:t>
            </a:r>
            <a:r>
              <a:rPr lang="en-US" dirty="0" smtClean="0"/>
              <a:t>riggering factors</a:t>
            </a:r>
          </a:p>
          <a:p>
            <a:pPr lvl="1"/>
            <a:r>
              <a:rPr lang="en-US" dirty="0" smtClean="0"/>
              <a:t>Answers the “what” question; usually includes a DSM diagnosis</a:t>
            </a:r>
          </a:p>
          <a:p>
            <a:pPr lvl="1"/>
            <a:r>
              <a:rPr lang="en-US" dirty="0" smtClean="0"/>
              <a:t>Issues of Immediacy and Description of client</a:t>
            </a:r>
          </a:p>
          <a:p>
            <a:pPr lvl="1"/>
            <a:r>
              <a:rPr lang="en-US" dirty="0" smtClean="0"/>
              <a:t>Psychotic or non-psychotic; personality disorder or not; acute/severe requiring ER </a:t>
            </a:r>
          </a:p>
          <a:p>
            <a:pPr lvl="1"/>
            <a:r>
              <a:rPr lang="en-US" dirty="0" smtClean="0"/>
              <a:t>Initial identification or hypothesis of a Pattern (Maladaptive)</a:t>
            </a:r>
          </a:p>
          <a:p>
            <a:r>
              <a:rPr lang="en-US" b="1" u="sng" dirty="0" smtClean="0"/>
              <a:t>Clinical Formulation</a:t>
            </a:r>
            <a:r>
              <a:rPr lang="en-US" dirty="0" smtClean="0"/>
              <a:t>:</a:t>
            </a:r>
          </a:p>
          <a:p>
            <a:pPr lvl="1"/>
            <a:r>
              <a:rPr lang="en-US" dirty="0" smtClean="0"/>
              <a:t>Pattern (Maladaptive)</a:t>
            </a:r>
          </a:p>
          <a:p>
            <a:pPr lvl="1"/>
            <a:r>
              <a:rPr lang="en-US" dirty="0" smtClean="0"/>
              <a:t>Answers the “why” question.  “Why did it happen?”</a:t>
            </a:r>
          </a:p>
          <a:p>
            <a:pPr lvl="1"/>
            <a:r>
              <a:rPr lang="en-US" dirty="0" smtClean="0"/>
              <a:t>Central component to Case conceptualization as it links Diagnosis and Treatment formulations</a:t>
            </a:r>
          </a:p>
          <a:p>
            <a:pPr lvl="1"/>
            <a:r>
              <a:rPr lang="en-US" dirty="0" smtClean="0"/>
              <a:t>Offers depth of understanding to the client and his/her world</a:t>
            </a:r>
          </a:p>
          <a:p>
            <a:pPr lvl="1"/>
            <a:endParaRPr lang="en-US" dirty="0" smtClean="0"/>
          </a:p>
        </p:txBody>
      </p:sp>
    </p:spTree>
    <p:extLst>
      <p:ext uri="{BB962C8B-B14F-4D97-AF65-F5344CB8AC3E}">
        <p14:creationId xmlns:p14="http://schemas.microsoft.com/office/powerpoint/2010/main" val="1930856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Four Components of a Case Conceptualization</a:t>
            </a:r>
            <a:endParaRPr lang="en-US" dirty="0"/>
          </a:p>
        </p:txBody>
      </p:sp>
      <p:sp>
        <p:nvSpPr>
          <p:cNvPr id="3" name="Content Placeholder 2"/>
          <p:cNvSpPr>
            <a:spLocks noGrp="1"/>
          </p:cNvSpPr>
          <p:nvPr>
            <p:ph idx="1"/>
          </p:nvPr>
        </p:nvSpPr>
        <p:spPr/>
        <p:txBody>
          <a:bodyPr>
            <a:normAutofit/>
          </a:bodyPr>
          <a:lstStyle/>
          <a:p>
            <a:r>
              <a:rPr lang="en-US" b="1" u="sng" dirty="0" smtClean="0"/>
              <a:t>Cultural Formulation</a:t>
            </a:r>
            <a:r>
              <a:rPr lang="en-US" dirty="0" smtClean="0"/>
              <a:t>:</a:t>
            </a:r>
          </a:p>
          <a:p>
            <a:pPr lvl="1"/>
            <a:r>
              <a:rPr lang="en-US" dirty="0" smtClean="0"/>
              <a:t>Answers:  “What role does culture play?”</a:t>
            </a:r>
          </a:p>
          <a:p>
            <a:pPr lvl="1"/>
            <a:r>
              <a:rPr lang="en-US" dirty="0" smtClean="0"/>
              <a:t>Cultural Identity, Levels of acculturation and stress, explanatory from a cultural perspective, cultural dynamics vs. personality dynamics</a:t>
            </a:r>
          </a:p>
          <a:p>
            <a:r>
              <a:rPr lang="en-US" b="1" u="sng" dirty="0" smtClean="0"/>
              <a:t>Treatment Formulation</a:t>
            </a:r>
            <a:r>
              <a:rPr lang="en-US" dirty="0" smtClean="0"/>
              <a:t>:</a:t>
            </a:r>
          </a:p>
          <a:p>
            <a:pPr lvl="1"/>
            <a:r>
              <a:rPr lang="en-US" dirty="0" smtClean="0"/>
              <a:t>Blueprint for Intervention planning</a:t>
            </a:r>
          </a:p>
          <a:p>
            <a:pPr lvl="1"/>
            <a:r>
              <a:rPr lang="en-US" dirty="0" smtClean="0"/>
              <a:t>Logical extension of Diagnostic, Clinical, and Cultural Formulations</a:t>
            </a:r>
          </a:p>
          <a:p>
            <a:pPr lvl="1"/>
            <a:r>
              <a:rPr lang="en-US" dirty="0" smtClean="0"/>
              <a:t>Answers the “How can it change?” question</a:t>
            </a:r>
          </a:p>
          <a:p>
            <a:pPr lvl="1"/>
            <a:r>
              <a:rPr lang="en-US" dirty="0" smtClean="0"/>
              <a:t>Treatment goals, focus, strategy, and specific interventions</a:t>
            </a:r>
          </a:p>
          <a:p>
            <a:pPr lvl="1"/>
            <a:endParaRPr lang="en-US" dirty="0"/>
          </a:p>
        </p:txBody>
      </p:sp>
    </p:spTree>
    <p:extLst>
      <p:ext uri="{BB962C8B-B14F-4D97-AF65-F5344CB8AC3E}">
        <p14:creationId xmlns:p14="http://schemas.microsoft.com/office/powerpoint/2010/main" val="1765296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Elements of Diagnostic Formulation</a:t>
            </a:r>
            <a:br>
              <a:rPr lang="en-US" dirty="0" smtClean="0"/>
            </a:br>
            <a:r>
              <a:rPr lang="en-US" sz="3200" dirty="0" smtClean="0"/>
              <a:t>(identifying maladaptive pattern/s)</a:t>
            </a:r>
            <a:endParaRPr lang="en-US" sz="3200" dirty="0"/>
          </a:p>
        </p:txBody>
      </p:sp>
      <p:sp>
        <p:nvSpPr>
          <p:cNvPr id="3" name="Content Placeholder 2"/>
          <p:cNvSpPr>
            <a:spLocks noGrp="1"/>
          </p:cNvSpPr>
          <p:nvPr>
            <p:ph idx="1"/>
          </p:nvPr>
        </p:nvSpPr>
        <p:spPr/>
        <p:txBody>
          <a:bodyPr>
            <a:normAutofit/>
          </a:bodyPr>
          <a:lstStyle/>
          <a:p>
            <a:pPr lvl="1"/>
            <a:r>
              <a:rPr lang="en-US" sz="2000" b="1" u="sng" dirty="0" smtClean="0"/>
              <a:t>Presentation</a:t>
            </a:r>
            <a:r>
              <a:rPr lang="en-US" sz="2000" dirty="0" smtClean="0"/>
              <a:t>:</a:t>
            </a:r>
            <a:r>
              <a:rPr lang="en-US" dirty="0" smtClean="0"/>
              <a:t>  Presenting problem and characteristic response to precipitants</a:t>
            </a:r>
          </a:p>
          <a:p>
            <a:pPr lvl="2"/>
            <a:r>
              <a:rPr lang="en-US" dirty="0" smtClean="0"/>
              <a:t>Type and severity of symptoms</a:t>
            </a:r>
          </a:p>
          <a:p>
            <a:pPr lvl="2"/>
            <a:r>
              <a:rPr lang="en-US" dirty="0" smtClean="0"/>
              <a:t>Personal and relational functioning or impairment</a:t>
            </a:r>
          </a:p>
          <a:p>
            <a:pPr lvl="2"/>
            <a:r>
              <a:rPr lang="en-US" dirty="0" smtClean="0"/>
              <a:t>History and course</a:t>
            </a:r>
          </a:p>
          <a:p>
            <a:pPr lvl="2"/>
            <a:r>
              <a:rPr lang="en-US" dirty="0" smtClean="0"/>
              <a:t>Medical and DSM-5 diagnoses</a:t>
            </a:r>
          </a:p>
          <a:p>
            <a:pPr lvl="1"/>
            <a:r>
              <a:rPr lang="en-US" sz="2000" b="1" u="sng" dirty="0" smtClean="0"/>
              <a:t>Precipitant:</a:t>
            </a:r>
            <a:r>
              <a:rPr lang="en-US" dirty="0" smtClean="0"/>
              <a:t>  Triggers that activate the pattern resulting in a presenting problem</a:t>
            </a:r>
          </a:p>
          <a:p>
            <a:pPr lvl="2"/>
            <a:r>
              <a:rPr lang="en-US" dirty="0" smtClean="0"/>
              <a:t>Antecedent conditions coinciding with the symptoms</a:t>
            </a:r>
          </a:p>
          <a:p>
            <a:pPr lvl="2"/>
            <a:r>
              <a:rPr lang="en-US" dirty="0" smtClean="0"/>
              <a:t>Factors present at onset of the presenting problem:  Where did it occur, what time, who was there, what was said, what happened next, etc.</a:t>
            </a:r>
          </a:p>
        </p:txBody>
      </p:sp>
    </p:spTree>
    <p:extLst>
      <p:ext uri="{BB962C8B-B14F-4D97-AF65-F5344CB8AC3E}">
        <p14:creationId xmlns:p14="http://schemas.microsoft.com/office/powerpoint/2010/main" val="1687721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Diagnostic Formulation</a:t>
            </a:r>
            <a:br>
              <a:rPr lang="en-US" dirty="0" smtClean="0"/>
            </a:br>
            <a:r>
              <a:rPr lang="en-US" sz="3600" dirty="0" smtClean="0"/>
              <a:t>(Identifying Maladaptive Pattern/s)</a:t>
            </a:r>
            <a:endParaRPr lang="en-US" sz="3600" dirty="0"/>
          </a:p>
        </p:txBody>
      </p:sp>
      <p:sp>
        <p:nvSpPr>
          <p:cNvPr id="3" name="Content Placeholder 2"/>
          <p:cNvSpPr>
            <a:spLocks noGrp="1"/>
          </p:cNvSpPr>
          <p:nvPr>
            <p:ph idx="1"/>
          </p:nvPr>
        </p:nvSpPr>
        <p:spPr/>
        <p:txBody>
          <a:bodyPr>
            <a:normAutofit/>
          </a:bodyPr>
          <a:lstStyle/>
          <a:p>
            <a:pPr marL="128016" lvl="1" indent="0">
              <a:buNone/>
            </a:pPr>
            <a:r>
              <a:rPr lang="en-US" sz="2000" b="1" u="sng" dirty="0" smtClean="0"/>
              <a:t>Pattern (maladaptive)</a:t>
            </a:r>
            <a:r>
              <a:rPr lang="en-US" sz="2000" dirty="0" smtClean="0"/>
              <a:t>: </a:t>
            </a:r>
            <a:r>
              <a:rPr lang="en-US" dirty="0" smtClean="0"/>
              <a:t>Inflexible, ineffective manner of perceiving, thinking, acting</a:t>
            </a:r>
          </a:p>
          <a:p>
            <a:pPr lvl="1"/>
            <a:r>
              <a:rPr lang="en-US" dirty="0" smtClean="0"/>
              <a:t>Links Presentation with Precipitant</a:t>
            </a:r>
          </a:p>
          <a:p>
            <a:pPr lvl="1"/>
            <a:r>
              <a:rPr lang="en-US" dirty="0" smtClean="0"/>
              <a:t>Makes sense of the situation</a:t>
            </a:r>
          </a:p>
          <a:p>
            <a:pPr lvl="1"/>
            <a:r>
              <a:rPr lang="en-US" dirty="0" smtClean="0"/>
              <a:t>Driven by Predispositions and reflect client Perpetuants</a:t>
            </a:r>
          </a:p>
          <a:p>
            <a:pPr lvl="1"/>
            <a:r>
              <a:rPr lang="en-US" dirty="0" smtClean="0"/>
              <a:t>Situation-specific or Longitudinal:  Addresses issue of flexibility &amp; interpersonal competence</a:t>
            </a:r>
          </a:p>
          <a:p>
            <a:pPr lvl="2"/>
            <a:r>
              <a:rPr lang="en-US" dirty="0" smtClean="0"/>
              <a:t>(SS): unique to the current situation</a:t>
            </a:r>
          </a:p>
          <a:p>
            <a:pPr lvl="2"/>
            <a:r>
              <a:rPr lang="en-US" dirty="0" smtClean="0"/>
              <a:t>Longitudinal:  life-long pattern offering a reasonable explanation or reason for situation (i.e. personality disorder) </a:t>
            </a:r>
          </a:p>
          <a:p>
            <a:pPr lvl="3"/>
            <a:endParaRPr lang="en-US" dirty="0" smtClean="0"/>
          </a:p>
        </p:txBody>
      </p:sp>
    </p:spTree>
    <p:extLst>
      <p:ext uri="{BB962C8B-B14F-4D97-AF65-F5344CB8AC3E}">
        <p14:creationId xmlns:p14="http://schemas.microsoft.com/office/powerpoint/2010/main" val="4275526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Elements of clinical Formulation</a:t>
            </a:r>
            <a:br>
              <a:rPr lang="en-US" dirty="0" smtClean="0"/>
            </a:br>
            <a:r>
              <a:rPr lang="en-US" sz="3600" dirty="0" smtClean="0"/>
              <a:t>(Understanding Maladaptive Pattern/s)</a:t>
            </a:r>
            <a:endParaRPr lang="en-US" sz="3600" dirty="0"/>
          </a:p>
        </p:txBody>
      </p:sp>
      <p:sp>
        <p:nvSpPr>
          <p:cNvPr id="3" name="Content Placeholder 2"/>
          <p:cNvSpPr>
            <a:spLocks noGrp="1"/>
          </p:cNvSpPr>
          <p:nvPr>
            <p:ph idx="1"/>
          </p:nvPr>
        </p:nvSpPr>
        <p:spPr/>
        <p:txBody>
          <a:bodyPr>
            <a:normAutofit fontScale="85000" lnSpcReduction="20000"/>
          </a:bodyPr>
          <a:lstStyle/>
          <a:p>
            <a:r>
              <a:rPr lang="en-US" sz="2000" b="1" u="sng" dirty="0" smtClean="0"/>
              <a:t>Predisposition</a:t>
            </a:r>
          </a:p>
          <a:p>
            <a:pPr lvl="1"/>
            <a:r>
              <a:rPr lang="en-US" dirty="0" smtClean="0"/>
              <a:t>Etiology or predisposing factors</a:t>
            </a:r>
          </a:p>
          <a:p>
            <a:pPr lvl="2"/>
            <a:r>
              <a:rPr lang="en-US" dirty="0" smtClean="0"/>
              <a:t>Developmental, social, and health histories which provide clues about likely predisposing factors.</a:t>
            </a:r>
          </a:p>
          <a:p>
            <a:pPr lvl="1"/>
            <a:r>
              <a:rPr lang="en-US" dirty="0" smtClean="0"/>
              <a:t>Factors fostering adaptive and/or maladaptive functioning</a:t>
            </a:r>
          </a:p>
          <a:p>
            <a:r>
              <a:rPr lang="en-US" sz="2000" b="1" u="sng" dirty="0" smtClean="0"/>
              <a:t>Perpetuants</a:t>
            </a:r>
          </a:p>
          <a:p>
            <a:pPr lvl="1"/>
            <a:r>
              <a:rPr lang="en-US" dirty="0" smtClean="0"/>
              <a:t>Maintaining Factors</a:t>
            </a:r>
          </a:p>
          <a:p>
            <a:pPr lvl="1"/>
            <a:r>
              <a:rPr lang="en-US" dirty="0" smtClean="0"/>
              <a:t>Processes in which the Pattern is reinforced and confirmed by both the client and client’s environment</a:t>
            </a:r>
          </a:p>
          <a:p>
            <a:pPr lvl="1"/>
            <a:r>
              <a:rPr lang="en-US" dirty="0" smtClean="0"/>
              <a:t>Serve to “protect” or “insulate” client from symptoms, conflict, or the demands of others</a:t>
            </a:r>
          </a:p>
          <a:p>
            <a:pPr lvl="1"/>
            <a:r>
              <a:rPr lang="en-US" dirty="0" smtClean="0"/>
              <a:t>Overlap of Predisposition and Perpetuant can make it difficult to identify one from the other</a:t>
            </a:r>
          </a:p>
          <a:p>
            <a:pPr lvl="2"/>
            <a:r>
              <a:rPr lang="en-US" dirty="0" smtClean="0"/>
              <a:t>Example:  An individual with an avoidant style as a result of her family of origin dynamics tends to engage in social isolation (Predisposition).  Repeatedly distancing herself from others in order to maintain a sense of ‘safety’ could lead to a core belief that she is unlovable (Perpetuant).  When asked out by people she does not know well (Precipitant), she declines the invitation (Pattern), reinforcing her sense of being unlovable, isolated and depressed (Presentation)</a:t>
            </a:r>
            <a:endParaRPr lang="en-US" dirty="0"/>
          </a:p>
        </p:txBody>
      </p:sp>
    </p:spTree>
    <p:extLst>
      <p:ext uri="{BB962C8B-B14F-4D97-AF65-F5344CB8AC3E}">
        <p14:creationId xmlns:p14="http://schemas.microsoft.com/office/powerpoint/2010/main" val="948396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Diagnostic Formulation:</a:t>
            </a:r>
            <a:br>
              <a:rPr lang="en-US" b="1" dirty="0" smtClean="0"/>
            </a:br>
            <a:r>
              <a:rPr lang="en-US" sz="2200" dirty="0"/>
              <a:t>Relationship of Precipitant, Pattern, and Presentation</a:t>
            </a:r>
            <a:endParaRPr lang="en-US" sz="2200" b="1" dirty="0"/>
          </a:p>
        </p:txBody>
      </p:sp>
      <p:sp>
        <p:nvSpPr>
          <p:cNvPr id="3" name="TextBox 2"/>
          <p:cNvSpPr txBox="1"/>
          <p:nvPr/>
        </p:nvSpPr>
        <p:spPr>
          <a:xfrm>
            <a:off x="4858327" y="3325090"/>
            <a:ext cx="2660073" cy="2000548"/>
          </a:xfrm>
          <a:prstGeom prst="rect">
            <a:avLst/>
          </a:prstGeom>
          <a:noFill/>
        </p:spPr>
        <p:txBody>
          <a:bodyPr wrap="square" rtlCol="0">
            <a:spAutoFit/>
          </a:bodyPr>
          <a:lstStyle/>
          <a:p>
            <a:r>
              <a:rPr lang="en-US" sz="3600" dirty="0" smtClean="0"/>
              <a:t>[Pattern] </a:t>
            </a:r>
            <a:r>
              <a:rPr lang="en-US" sz="2800" dirty="0" smtClean="0"/>
              <a:t>Maladaptive:</a:t>
            </a:r>
          </a:p>
          <a:p>
            <a:r>
              <a:rPr lang="en-US" sz="2000" dirty="0" smtClean="0"/>
              <a:t>Inflexible, ineffective manner of perceiving, thinking, acting</a:t>
            </a:r>
            <a:endParaRPr lang="en-US" sz="2000" dirty="0"/>
          </a:p>
        </p:txBody>
      </p:sp>
      <p:sp>
        <p:nvSpPr>
          <p:cNvPr id="4" name="TextBox 3"/>
          <p:cNvSpPr txBox="1"/>
          <p:nvPr/>
        </p:nvSpPr>
        <p:spPr>
          <a:xfrm>
            <a:off x="8072582" y="3297380"/>
            <a:ext cx="2900218" cy="1569660"/>
          </a:xfrm>
          <a:prstGeom prst="rect">
            <a:avLst/>
          </a:prstGeom>
          <a:noFill/>
        </p:spPr>
        <p:txBody>
          <a:bodyPr wrap="square" rtlCol="0">
            <a:spAutoFit/>
          </a:bodyPr>
          <a:lstStyle/>
          <a:p>
            <a:r>
              <a:rPr lang="en-US" sz="3600" dirty="0" smtClean="0"/>
              <a:t>Presentation:</a:t>
            </a:r>
          </a:p>
          <a:p>
            <a:r>
              <a:rPr lang="en-US" sz="2000" dirty="0" smtClean="0"/>
              <a:t>Presenting problem and characteristic response to precipitants</a:t>
            </a:r>
            <a:endParaRPr lang="en-US" sz="2000" dirty="0"/>
          </a:p>
        </p:txBody>
      </p:sp>
      <p:sp>
        <p:nvSpPr>
          <p:cNvPr id="5" name="TextBox 4"/>
          <p:cNvSpPr txBox="1"/>
          <p:nvPr/>
        </p:nvSpPr>
        <p:spPr>
          <a:xfrm>
            <a:off x="764308" y="3417253"/>
            <a:ext cx="2597732" cy="2492990"/>
          </a:xfrm>
          <a:prstGeom prst="rect">
            <a:avLst/>
          </a:prstGeom>
          <a:noFill/>
        </p:spPr>
        <p:txBody>
          <a:bodyPr wrap="square" rtlCol="0">
            <a:spAutoFit/>
          </a:bodyPr>
          <a:lstStyle/>
          <a:p>
            <a:r>
              <a:rPr lang="en-US" sz="3600" dirty="0" smtClean="0"/>
              <a:t>Precipitant:</a:t>
            </a:r>
            <a:endParaRPr lang="en-US" sz="2000" dirty="0" smtClean="0"/>
          </a:p>
          <a:p>
            <a:r>
              <a:rPr lang="en-US" sz="2000" dirty="0" smtClean="0"/>
              <a:t>Trigger/s that activate the pattern resulting in a presenting problem.  Factors present at onset of first manifestations of problems</a:t>
            </a:r>
            <a:endParaRPr lang="en-US" sz="3600" dirty="0"/>
          </a:p>
        </p:txBody>
      </p:sp>
      <p:sp>
        <p:nvSpPr>
          <p:cNvPr id="6" name="Right Arrow 5"/>
          <p:cNvSpPr/>
          <p:nvPr/>
        </p:nvSpPr>
        <p:spPr>
          <a:xfrm>
            <a:off x="6733309" y="3537265"/>
            <a:ext cx="997526" cy="2494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3435931" y="3662010"/>
            <a:ext cx="997526" cy="2494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8187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Clinical Formulation:</a:t>
            </a:r>
            <a:endParaRPr lang="en-US" sz="2200" b="1" dirty="0"/>
          </a:p>
        </p:txBody>
      </p:sp>
      <p:sp>
        <p:nvSpPr>
          <p:cNvPr id="3" name="TextBox 2"/>
          <p:cNvSpPr txBox="1"/>
          <p:nvPr/>
        </p:nvSpPr>
        <p:spPr>
          <a:xfrm>
            <a:off x="4858327" y="3325090"/>
            <a:ext cx="2660073" cy="2246769"/>
          </a:xfrm>
          <a:prstGeom prst="rect">
            <a:avLst/>
          </a:prstGeom>
          <a:noFill/>
        </p:spPr>
        <p:txBody>
          <a:bodyPr wrap="square" rtlCol="0">
            <a:spAutoFit/>
          </a:bodyPr>
          <a:lstStyle/>
          <a:p>
            <a:r>
              <a:rPr lang="en-US" sz="3200" dirty="0" smtClean="0"/>
              <a:t>[Pattern] </a:t>
            </a:r>
            <a:r>
              <a:rPr lang="en-US" sz="2800" dirty="0" smtClean="0"/>
              <a:t>Maladaptive:</a:t>
            </a:r>
          </a:p>
          <a:p>
            <a:r>
              <a:rPr lang="en-US" sz="2000" dirty="0" smtClean="0"/>
              <a:t>Inflexible, ineffective manner of perceiving, thinking, acting</a:t>
            </a:r>
            <a:endParaRPr lang="en-US" sz="2000" dirty="0"/>
          </a:p>
        </p:txBody>
      </p:sp>
      <p:sp>
        <p:nvSpPr>
          <p:cNvPr id="4" name="TextBox 3"/>
          <p:cNvSpPr txBox="1"/>
          <p:nvPr/>
        </p:nvSpPr>
        <p:spPr>
          <a:xfrm>
            <a:off x="8072582" y="3297380"/>
            <a:ext cx="2900218" cy="1877437"/>
          </a:xfrm>
          <a:prstGeom prst="rect">
            <a:avLst/>
          </a:prstGeom>
          <a:noFill/>
        </p:spPr>
        <p:txBody>
          <a:bodyPr wrap="square" rtlCol="0">
            <a:spAutoFit/>
          </a:bodyPr>
          <a:lstStyle/>
          <a:p>
            <a:r>
              <a:rPr lang="en-US" sz="3200" dirty="0" smtClean="0"/>
              <a:t>Presentation</a:t>
            </a:r>
            <a:r>
              <a:rPr lang="en-US" sz="3600" dirty="0" smtClean="0"/>
              <a:t>:</a:t>
            </a:r>
          </a:p>
          <a:p>
            <a:r>
              <a:rPr lang="en-US" sz="2000" dirty="0" smtClean="0"/>
              <a:t>Presenting problem and characteristic      response to precipitants</a:t>
            </a:r>
            <a:endParaRPr lang="en-US" sz="2000" dirty="0"/>
          </a:p>
        </p:txBody>
      </p:sp>
      <p:sp>
        <p:nvSpPr>
          <p:cNvPr id="5" name="TextBox 4"/>
          <p:cNvSpPr txBox="1"/>
          <p:nvPr/>
        </p:nvSpPr>
        <p:spPr>
          <a:xfrm>
            <a:off x="764308" y="3417253"/>
            <a:ext cx="2597732" cy="3662541"/>
          </a:xfrm>
          <a:prstGeom prst="rect">
            <a:avLst/>
          </a:prstGeom>
          <a:noFill/>
        </p:spPr>
        <p:txBody>
          <a:bodyPr wrap="square" rtlCol="0">
            <a:spAutoFit/>
          </a:bodyPr>
          <a:lstStyle/>
          <a:p>
            <a:r>
              <a:rPr lang="en-US" sz="3200" dirty="0" smtClean="0"/>
              <a:t>Precipitant</a:t>
            </a:r>
            <a:r>
              <a:rPr lang="en-US" sz="3600" dirty="0" smtClean="0"/>
              <a:t>:</a:t>
            </a:r>
            <a:endParaRPr lang="en-US" sz="2000" dirty="0" smtClean="0"/>
          </a:p>
          <a:p>
            <a:r>
              <a:rPr lang="en-US" sz="2000" dirty="0" smtClean="0"/>
              <a:t>Trigger/s that activate the pattern resulting in a presenting problem. </a:t>
            </a:r>
            <a:r>
              <a:rPr lang="en-US" sz="2000" dirty="0"/>
              <a:t>Factors present at onset of first manifestations of problems</a:t>
            </a:r>
          </a:p>
          <a:p>
            <a:endParaRPr lang="en-US" sz="3600" dirty="0"/>
          </a:p>
        </p:txBody>
      </p:sp>
      <p:sp>
        <p:nvSpPr>
          <p:cNvPr id="6" name="Right Arrow 5"/>
          <p:cNvSpPr/>
          <p:nvPr/>
        </p:nvSpPr>
        <p:spPr>
          <a:xfrm>
            <a:off x="6733309" y="3537265"/>
            <a:ext cx="997526" cy="2494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3435931" y="3662010"/>
            <a:ext cx="997526" cy="2494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313382" y="1983076"/>
            <a:ext cx="2992581" cy="1200329"/>
          </a:xfrm>
          <a:prstGeom prst="rect">
            <a:avLst/>
          </a:prstGeom>
          <a:noFill/>
        </p:spPr>
        <p:txBody>
          <a:bodyPr wrap="square" rtlCol="0">
            <a:spAutoFit/>
          </a:bodyPr>
          <a:lstStyle/>
          <a:p>
            <a:r>
              <a:rPr lang="en-US" sz="3200" dirty="0" smtClean="0"/>
              <a:t>Predisposition:</a:t>
            </a:r>
          </a:p>
          <a:p>
            <a:r>
              <a:rPr lang="en-US" sz="2000" dirty="0" smtClean="0"/>
              <a:t>‘Origins’ of the formulation</a:t>
            </a:r>
            <a:endParaRPr lang="en-US" sz="2000" dirty="0"/>
          </a:p>
        </p:txBody>
      </p:sp>
      <p:sp>
        <p:nvSpPr>
          <p:cNvPr id="10" name="Right Arrow 9"/>
          <p:cNvSpPr/>
          <p:nvPr/>
        </p:nvSpPr>
        <p:spPr>
          <a:xfrm rot="5400000">
            <a:off x="5533755" y="3077187"/>
            <a:ext cx="551832" cy="2124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775200" y="5771914"/>
            <a:ext cx="2743200" cy="954107"/>
          </a:xfrm>
          <a:prstGeom prst="rect">
            <a:avLst/>
          </a:prstGeom>
          <a:noFill/>
        </p:spPr>
        <p:txBody>
          <a:bodyPr wrap="square" rtlCol="0">
            <a:spAutoFit/>
          </a:bodyPr>
          <a:lstStyle/>
          <a:p>
            <a:r>
              <a:rPr lang="en-US" sz="3200" dirty="0" smtClean="0"/>
              <a:t>Perpetuants</a:t>
            </a:r>
            <a:r>
              <a:rPr lang="en-US" sz="3600" dirty="0" smtClean="0"/>
              <a:t>:</a:t>
            </a:r>
            <a:r>
              <a:rPr lang="en-US" sz="2000" dirty="0" smtClean="0"/>
              <a:t> Maintaining factors</a:t>
            </a:r>
            <a:endParaRPr lang="en-US" sz="3600" dirty="0"/>
          </a:p>
        </p:txBody>
      </p:sp>
      <p:sp>
        <p:nvSpPr>
          <p:cNvPr id="12" name="Right Arrow 11"/>
          <p:cNvSpPr/>
          <p:nvPr/>
        </p:nvSpPr>
        <p:spPr>
          <a:xfrm rot="16200000">
            <a:off x="5533756" y="5526850"/>
            <a:ext cx="551832" cy="2124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9733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Conceptualization Summary Statement</a:t>
            </a:r>
            <a:endParaRPr lang="en-US" dirty="0"/>
          </a:p>
        </p:txBody>
      </p:sp>
      <p:sp>
        <p:nvSpPr>
          <p:cNvPr id="3" name="Content Placeholder 2"/>
          <p:cNvSpPr>
            <a:spLocks noGrp="1"/>
          </p:cNvSpPr>
          <p:nvPr>
            <p:ph idx="1"/>
          </p:nvPr>
        </p:nvSpPr>
        <p:spPr/>
        <p:txBody>
          <a:bodyPr/>
          <a:lstStyle/>
          <a:p>
            <a:r>
              <a:rPr lang="en-US" dirty="0"/>
              <a:t>Jacey’s current symptoms (including anxiety, depression, mood swings, and social isolation) (Presentation), make sense in light of her recent interaction with her parents (Precipitant), her family history (i.e. “I have never felt close to my parents”) (Predisposition), and her current developmental stage (i.e., entailing identity and intimacy concerns) (Perpetuant).  These factors appear to have contributed to Jacey’s tendency toward isolating herself from others (Pattern).</a:t>
            </a:r>
          </a:p>
        </p:txBody>
      </p:sp>
    </p:spTree>
    <p:extLst>
      <p:ext uri="{BB962C8B-B14F-4D97-AF65-F5344CB8AC3E}">
        <p14:creationId xmlns:p14="http://schemas.microsoft.com/office/powerpoint/2010/main" val="1516828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TextBox 2"/>
          <p:cNvSpPr txBox="1"/>
          <p:nvPr/>
        </p:nvSpPr>
        <p:spPr>
          <a:xfrm>
            <a:off x="1072529" y="2213811"/>
            <a:ext cx="6930190" cy="1754326"/>
          </a:xfrm>
          <a:prstGeom prst="rect">
            <a:avLst/>
          </a:prstGeom>
          <a:noFill/>
        </p:spPr>
        <p:txBody>
          <a:bodyPr wrap="square" rtlCol="0">
            <a:spAutoFit/>
          </a:bodyPr>
          <a:lstStyle/>
          <a:p>
            <a:r>
              <a:rPr lang="en-US" dirty="0" smtClean="0"/>
              <a:t>Sperry, L. &amp; Sperry, J. (2012).</a:t>
            </a:r>
            <a:r>
              <a:rPr lang="en-US" i="1" dirty="0" smtClean="0"/>
              <a:t>  Case Conceptualization:  Mastering Competency with Ease and Confidence</a:t>
            </a:r>
            <a:r>
              <a:rPr lang="en-US" dirty="0" smtClean="0"/>
              <a:t>.  New York:  Routledge</a:t>
            </a:r>
          </a:p>
          <a:p>
            <a:endParaRPr lang="en-US" dirty="0"/>
          </a:p>
          <a:p>
            <a:r>
              <a:rPr lang="en-US" dirty="0" smtClean="0"/>
              <a:t>Sperry, L. (2005).  Case Conceptualizations:  The Missing Link between theory and practice</a:t>
            </a:r>
            <a:r>
              <a:rPr lang="en-US" i="1" dirty="0" smtClean="0"/>
              <a:t>.  The Family Journal:  Counseling and Therapy for Couples and Families. 13</a:t>
            </a:r>
            <a:r>
              <a:rPr lang="en-US" dirty="0" smtClean="0"/>
              <a:t>(1).  71-76</a:t>
            </a:r>
            <a:endParaRPr lang="en-US" dirty="0"/>
          </a:p>
        </p:txBody>
      </p:sp>
    </p:spTree>
    <p:extLst>
      <p:ext uri="{BB962C8B-B14F-4D97-AF65-F5344CB8AC3E}">
        <p14:creationId xmlns:p14="http://schemas.microsoft.com/office/powerpoint/2010/main" val="108950396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1359</TotalTime>
  <Words>1236</Words>
  <Application>Microsoft Office PowerPoint</Application>
  <PresentationFormat>Widescreen</PresentationFormat>
  <Paragraphs>113</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Trebuchet MS</vt:lpstr>
      <vt:lpstr>Wingdings 3</vt:lpstr>
      <vt:lpstr>Facet</vt:lpstr>
      <vt:lpstr>Case Conceptualization </vt:lpstr>
      <vt:lpstr>Case Conceptualization</vt:lpstr>
      <vt:lpstr>Objective </vt:lpstr>
      <vt:lpstr>Case Conceptualization</vt:lpstr>
      <vt:lpstr>Elements of Case Conceptualization (Main focus of this presentation)</vt:lpstr>
      <vt:lpstr>Elements of Case Conceptualization (Not Addressed in this presentation)</vt:lpstr>
      <vt:lpstr>Four Components of a Case Conceptualization</vt:lpstr>
      <vt:lpstr>Four Components of a Case Conceptualization</vt:lpstr>
      <vt:lpstr>Elements of Diagnostic Formulation (identifying maladaptive pattern/s)</vt:lpstr>
      <vt:lpstr>Elements of Diagnostic Formulation (Identifying Maladaptive Pattern/s)</vt:lpstr>
      <vt:lpstr>Elements of clinical Formulation (Understanding Maladaptive Pattern/s)</vt:lpstr>
      <vt:lpstr>Diagnostic Formulation: Relationship of Precipitant, Pattern, and Presentation</vt:lpstr>
      <vt:lpstr>Clinical Formulation:</vt:lpstr>
      <vt:lpstr>Case Conceptualization Summary Statement</vt:lpstr>
      <vt:lpstr>References</vt:lpstr>
    </vt:vector>
  </TitlesOfParts>
  <Company>Liberty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Conceptualization</dc:title>
  <dc:creator>Johnson, Steve G (Ctr for Counseling &amp; Family Studies)</dc:creator>
  <cp:lastModifiedBy>Johnson, Steve G (Ctr for Counseling &amp; Family Studies)</cp:lastModifiedBy>
  <cp:revision>55</cp:revision>
  <dcterms:created xsi:type="dcterms:W3CDTF">2018-05-17T19:47:21Z</dcterms:created>
  <dcterms:modified xsi:type="dcterms:W3CDTF">2018-11-23T18:05:40Z</dcterms:modified>
</cp:coreProperties>
</file>